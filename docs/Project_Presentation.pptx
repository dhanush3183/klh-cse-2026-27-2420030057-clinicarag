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1"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FD6F-99B4-27CB-3E61-5E01716B3C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6510E4-8791-DBD6-A515-8E1F67A23E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B2D7D0-E3B7-1AD9-6E10-153D10B230FF}"/>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73CCFDDE-53C8-09AB-BD7F-767720308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287915-E035-FBA6-BF25-E87F505BA1D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55391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244E-D864-13C0-4324-D1EA8A928B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F6B041-6599-CA9A-716A-0AC6568D9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67FEB6-DEFD-905D-2D9A-A68BDC4C5289}"/>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28E3D099-B171-347E-0BCC-241AC24D8D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03D37-20A4-732D-ADC9-798CC77C777B}"/>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5325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07AE-DAB9-C6BF-B02E-D9EB033A6F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854AD8-E529-8310-2A54-FF3C869FE7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A12EDE-1BF3-8873-5BD9-57609A8F1E70}"/>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4B4914A7-79EA-C32E-26A3-CAF1F1729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882933-5B33-5612-1E93-58712098BCB5}"/>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199418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74976-14D9-1DA9-6D3C-FC9D1C04F4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0B8152-A2AD-60BD-8023-1DB6F5736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B07268-E4AC-AAFA-809B-A7FACCEB5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8BB2F7-C0C7-0686-CE35-4D0AC18FC032}"/>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6" name="Footer Placeholder 5">
            <a:extLst>
              <a:ext uri="{FF2B5EF4-FFF2-40B4-BE49-F238E27FC236}">
                <a16:creationId xmlns:a16="http://schemas.microsoft.com/office/drawing/2014/main" id="{F6A8F08A-77CC-384A-28A2-DCB62C97E3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E177E-460C-AF3E-4FBD-7BB0C0E6F2E7}"/>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613676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F6ED-1CD0-C35A-41AE-66C26C65F4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C99286-5F36-0386-B98B-E3307C6B3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601A9-AB25-8D84-D822-714508ED4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E3AA44-664C-5A7B-B4EF-B0615A39F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62492E-AB38-F05F-9FF4-D91A9C7A2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8821CF-4728-B0FB-B2A4-1E0D4F42F42B}"/>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8" name="Footer Placeholder 7">
            <a:extLst>
              <a:ext uri="{FF2B5EF4-FFF2-40B4-BE49-F238E27FC236}">
                <a16:creationId xmlns:a16="http://schemas.microsoft.com/office/drawing/2014/main" id="{A4AF0834-7607-B67F-B9A3-161F70FF86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19D70A-AA5B-A1FB-9F8A-16F09BD59F96}"/>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82999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7B8-ED1B-BC1F-FD2A-8A93B00978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40CEC5-5DE4-A4C2-0916-80CA48C83CA5}"/>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4" name="Footer Placeholder 3">
            <a:extLst>
              <a:ext uri="{FF2B5EF4-FFF2-40B4-BE49-F238E27FC236}">
                <a16:creationId xmlns:a16="http://schemas.microsoft.com/office/drawing/2014/main" id="{70CC91DE-0ABC-7AF0-99A3-6C1F03F419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92629A-4476-1DA2-5CF0-A17BA2FF9564}"/>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111437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EA375-E64B-FC59-E60C-C7E60FEE759F}"/>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3" name="Footer Placeholder 2">
            <a:extLst>
              <a:ext uri="{FF2B5EF4-FFF2-40B4-BE49-F238E27FC236}">
                <a16:creationId xmlns:a16="http://schemas.microsoft.com/office/drawing/2014/main" id="{2D9F6B6D-FC64-E39A-0CF6-137FFB3937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648588-12BE-2992-8A4B-80CF624478A8}"/>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273833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BEAB-E780-DC66-4645-14026847A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1A3F1-D3D3-03B4-F4FE-09289DF974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18737F-46A0-F644-1BE2-A39CCA853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7D3E43-4BFE-6EEB-7E5D-C3E6E521C2FF}"/>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6" name="Footer Placeholder 5">
            <a:extLst>
              <a:ext uri="{FF2B5EF4-FFF2-40B4-BE49-F238E27FC236}">
                <a16:creationId xmlns:a16="http://schemas.microsoft.com/office/drawing/2014/main" id="{91EB7744-A95B-C829-0983-58B7AA69BF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958981-AA73-8DA8-88E7-86319DCA450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7104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0A99-6350-8DD8-003A-8C2D6A238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1377BB-194E-3C4D-0195-11DD94BC17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9F5680-4760-9856-6BFA-FED5FE96C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C184B0-721A-CFF5-DFA8-086A9F14D736}"/>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6" name="Footer Placeholder 5">
            <a:extLst>
              <a:ext uri="{FF2B5EF4-FFF2-40B4-BE49-F238E27FC236}">
                <a16:creationId xmlns:a16="http://schemas.microsoft.com/office/drawing/2014/main" id="{4FD4E9EC-6EFC-B100-D4FE-7750A68D7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0B3682-320C-4AEC-051E-CE99DDBF09F0}"/>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432204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05A4-FFC0-60D2-4411-51F9BD2520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4EFAD6-8C08-910A-3E6C-48DBB43344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346380-3316-55C5-BAFF-B526DCFB3F3E}"/>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4AC15194-2BD3-A3BC-1896-1CFA74F486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0FD476-9D32-6EAB-CDCE-20DDF0F3E0DF}"/>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90288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12A771-CE8F-4BE4-E853-07C2F00EE0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948D1E-30D1-2207-C542-9E92B0A34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E580C6-8CDA-A684-9E44-095323178F08}"/>
              </a:ext>
            </a:extLst>
          </p:cNvPr>
          <p:cNvSpPr>
            <a:spLocks noGrp="1"/>
          </p:cNvSpPr>
          <p:nvPr>
            <p:ph type="dt" sz="half" idx="10"/>
          </p:nvPr>
        </p:nvSpPr>
        <p:spPr/>
        <p:txBody>
          <a:body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5598F739-8772-2624-0371-14A3C0189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C63732-2DB4-5C2D-1011-4AADB281B36A}"/>
              </a:ext>
            </a:extLst>
          </p:cNvPr>
          <p:cNvSpPr>
            <a:spLocks noGrp="1"/>
          </p:cNvSpPr>
          <p:nvPr>
            <p:ph type="sldNum" sz="quarter" idx="12"/>
          </p:nvPr>
        </p:nvSpPr>
        <p:spPr/>
        <p:txBody>
          <a:bodyPr/>
          <a:lstStyle/>
          <a:p>
            <a:fld id="{2FFEB6CF-1332-4B2E-BAB9-76E646DDC6F5}" type="slidenum">
              <a:rPr lang="en-IN" smtClean="0"/>
              <a:t>‹#›</a:t>
            </a:fld>
            <a:endParaRPr lang="en-IN"/>
          </a:p>
        </p:txBody>
      </p:sp>
    </p:spTree>
    <p:extLst>
      <p:ext uri="{BB962C8B-B14F-4D97-AF65-F5344CB8AC3E}">
        <p14:creationId xmlns:p14="http://schemas.microsoft.com/office/powerpoint/2010/main" val="31169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51DA85-17C2-F18F-3674-C83705E9F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BB70EF-231B-898E-8C56-4EC79FFCB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924A2D-600C-B6DE-BAE5-70AEBAACE3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F34BA-1B9B-44B6-A5D6-6882C9FB0354}" type="datetimeFigureOut">
              <a:rPr lang="en-IN" smtClean="0"/>
              <a:t>08-08-2026</a:t>
            </a:fld>
            <a:endParaRPr lang="en-IN"/>
          </a:p>
        </p:txBody>
      </p:sp>
      <p:sp>
        <p:nvSpPr>
          <p:cNvPr id="5" name="Footer Placeholder 4">
            <a:extLst>
              <a:ext uri="{FF2B5EF4-FFF2-40B4-BE49-F238E27FC236}">
                <a16:creationId xmlns:a16="http://schemas.microsoft.com/office/drawing/2014/main" id="{C2988926-842D-CF1C-93EC-177F4E6939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D7DD65-9B4B-93A7-B4F7-164DB0594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FEB6CF-1332-4B2E-BAB9-76E646DDC6F5}" type="slidenum">
              <a:rPr lang="en-IN" smtClean="0"/>
              <a:t>‹#›</a:t>
            </a:fld>
            <a:endParaRPr lang="en-IN"/>
          </a:p>
        </p:txBody>
      </p:sp>
    </p:spTree>
    <p:extLst>
      <p:ext uri="{BB962C8B-B14F-4D97-AF65-F5344CB8AC3E}">
        <p14:creationId xmlns:p14="http://schemas.microsoft.com/office/powerpoint/2010/main" val="3312788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FC6623-7679-BA0C-6DF3-53814C43AE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3DF2ADD0-58A3-5ACB-EB59-08EA47C86983}"/>
              </a:ext>
            </a:extLst>
          </p:cNvPr>
          <p:cNvSpPr txBox="1"/>
          <p:nvPr/>
        </p:nvSpPr>
        <p:spPr>
          <a:xfrm>
            <a:off x="2142066" y="1617133"/>
            <a:ext cx="8288867" cy="477054"/>
          </a:xfrm>
          <a:prstGeom prst="rect">
            <a:avLst/>
          </a:prstGeom>
          <a:noFill/>
        </p:spPr>
        <p:txBody>
          <a:bodyPr wrap="square" rtlCol="0">
            <a:spAutoFit/>
          </a:bodyPr>
          <a:lstStyle/>
          <a:p>
            <a:r>
              <a:rPr lang="en-IN" sz="2500" b="1" dirty="0" err="1"/>
              <a:t>ClinicaRAG</a:t>
            </a:r>
            <a:r>
              <a:rPr lang="en-IN" sz="2500" b="1" dirty="0"/>
              <a:t>: An LLM-Based Clinical Decision Support System</a:t>
            </a:r>
          </a:p>
        </p:txBody>
      </p:sp>
      <p:sp>
        <p:nvSpPr>
          <p:cNvPr id="7" name="TextBox 6">
            <a:extLst>
              <a:ext uri="{FF2B5EF4-FFF2-40B4-BE49-F238E27FC236}">
                <a16:creationId xmlns:a16="http://schemas.microsoft.com/office/drawing/2014/main" id="{81454382-B7A4-79B3-50E2-348160005286}"/>
              </a:ext>
            </a:extLst>
          </p:cNvPr>
          <p:cNvSpPr txBox="1"/>
          <p:nvPr/>
        </p:nvSpPr>
        <p:spPr>
          <a:xfrm>
            <a:off x="8551333" y="5334000"/>
            <a:ext cx="3513667" cy="1200329"/>
          </a:xfrm>
          <a:prstGeom prst="rect">
            <a:avLst/>
          </a:prstGeom>
          <a:noFill/>
        </p:spPr>
        <p:txBody>
          <a:bodyPr wrap="square" rtlCol="0">
            <a:spAutoFit/>
          </a:bodyPr>
          <a:lstStyle/>
          <a:p>
            <a:r>
              <a:rPr lang="en-IN" dirty="0"/>
              <a:t>Team - 9</a:t>
            </a:r>
          </a:p>
          <a:p>
            <a:r>
              <a:rPr lang="en-IN" dirty="0"/>
              <a:t>2420030057 – P. Dhanush</a:t>
            </a:r>
          </a:p>
          <a:p>
            <a:r>
              <a:rPr lang="en-IN" dirty="0"/>
              <a:t>2420080098 – Tannishtha Verma</a:t>
            </a:r>
          </a:p>
          <a:p>
            <a:r>
              <a:rPr lang="en-IN" dirty="0"/>
              <a:t>2420090147 – M. Rohith</a:t>
            </a:r>
          </a:p>
        </p:txBody>
      </p:sp>
      <p:sp>
        <p:nvSpPr>
          <p:cNvPr id="8" name="TextBox 7">
            <a:extLst>
              <a:ext uri="{FF2B5EF4-FFF2-40B4-BE49-F238E27FC236}">
                <a16:creationId xmlns:a16="http://schemas.microsoft.com/office/drawing/2014/main" id="{0FD1A5EA-CF31-C0D7-374C-AA422943462F}"/>
              </a:ext>
            </a:extLst>
          </p:cNvPr>
          <p:cNvSpPr txBox="1"/>
          <p:nvPr/>
        </p:nvSpPr>
        <p:spPr>
          <a:xfrm>
            <a:off x="2133601" y="2827867"/>
            <a:ext cx="8762999" cy="1754326"/>
          </a:xfrm>
          <a:prstGeom prst="rect">
            <a:avLst/>
          </a:prstGeom>
          <a:noFill/>
        </p:spPr>
        <p:txBody>
          <a:bodyPr wrap="square" rtlCol="0">
            <a:spAutoFit/>
          </a:bodyPr>
          <a:lstStyle/>
          <a:p>
            <a:pPr marL="285750" lvl="0" indent="-285750">
              <a:buFont typeface="Arial" panose="020B0604020202020204" pitchFamily="34" charset="0"/>
              <a:buChar char="•"/>
            </a:pPr>
            <a:r>
              <a:rPr lang="en-IN" b="1" dirty="0"/>
              <a:t>Domain:</a:t>
            </a:r>
            <a:r>
              <a:rPr lang="en-IN" dirty="0"/>
              <a:t> Healthcare &amp; Medical Natural Language Processing (NLP)</a:t>
            </a:r>
          </a:p>
          <a:p>
            <a:pPr marL="285750" lvl="0" indent="-285750">
              <a:buFont typeface="Arial" panose="020B0604020202020204" pitchFamily="34" charset="0"/>
              <a:buChar char="•"/>
            </a:pPr>
            <a:r>
              <a:rPr lang="en-IN" b="1" dirty="0"/>
              <a:t>Core Technologies:</a:t>
            </a:r>
            <a:r>
              <a:rPr lang="en-IN" dirty="0"/>
              <a:t> </a:t>
            </a:r>
            <a:r>
              <a:rPr lang="en-IN" dirty="0" err="1"/>
              <a:t>BioBERT</a:t>
            </a:r>
            <a:r>
              <a:rPr lang="en-IN" dirty="0"/>
              <a:t>, </a:t>
            </a:r>
            <a:r>
              <a:rPr lang="en-IN" dirty="0" err="1"/>
              <a:t>ClinicalBERT</a:t>
            </a:r>
            <a:r>
              <a:rPr lang="en-IN" dirty="0"/>
              <a:t>, Llama 3 (8B), Retrieval-Augmented Generation (RAG), </a:t>
            </a:r>
            <a:r>
              <a:rPr lang="en-IN" dirty="0" err="1"/>
              <a:t>ChromaDB</a:t>
            </a:r>
            <a:endParaRPr lang="en-IN" dirty="0"/>
          </a:p>
          <a:p>
            <a:pPr marL="285750" lvl="0" indent="-285750">
              <a:buFont typeface="Arial" panose="020B0604020202020204" pitchFamily="34" charset="0"/>
              <a:buChar char="•"/>
            </a:pPr>
            <a:r>
              <a:rPr lang="en-IN" b="1" dirty="0"/>
              <a:t>Datasets:</a:t>
            </a:r>
            <a:r>
              <a:rPr lang="en-IN" dirty="0"/>
              <a:t> MIMIC-III, PubMed / </a:t>
            </a:r>
            <a:r>
              <a:rPr lang="en-IN" dirty="0" err="1"/>
              <a:t>PubMedQA</a:t>
            </a:r>
            <a:r>
              <a:rPr lang="en-IN" dirty="0"/>
              <a:t>, MedQuAD, Clinical Notes Dataset</a:t>
            </a:r>
          </a:p>
          <a:p>
            <a:pPr marL="285750" lvl="0" indent="-285750">
              <a:buFont typeface="Arial" panose="020B0604020202020204" pitchFamily="34" charset="0"/>
              <a:buChar char="•"/>
            </a:pPr>
            <a:r>
              <a:rPr lang="en-IN" b="1" dirty="0"/>
              <a:t>Team Structure:</a:t>
            </a:r>
            <a:r>
              <a:rPr lang="en-IN" dirty="0"/>
              <a:t> 3-Member Collaborative Project (Built using Open-Source &amp; Free Tools)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406181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2AC24-626C-2EF3-9696-B1B658F0A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B8A4E18B-CD00-7350-2492-E29738620249}"/>
              </a:ext>
            </a:extLst>
          </p:cNvPr>
          <p:cNvSpPr txBox="1"/>
          <p:nvPr/>
        </p:nvSpPr>
        <p:spPr>
          <a:xfrm>
            <a:off x="4504266" y="1380067"/>
            <a:ext cx="6874934" cy="430887"/>
          </a:xfrm>
          <a:prstGeom prst="rect">
            <a:avLst/>
          </a:prstGeom>
          <a:noFill/>
        </p:spPr>
        <p:txBody>
          <a:bodyPr wrap="square" rtlCol="0">
            <a:spAutoFit/>
          </a:bodyPr>
          <a:lstStyle/>
          <a:p>
            <a:r>
              <a:rPr lang="en-IN" sz="2200" b="1" dirty="0"/>
              <a:t>Problem Statement</a:t>
            </a:r>
          </a:p>
        </p:txBody>
      </p:sp>
      <p:sp>
        <p:nvSpPr>
          <p:cNvPr id="8" name="TextBox 7">
            <a:extLst>
              <a:ext uri="{FF2B5EF4-FFF2-40B4-BE49-F238E27FC236}">
                <a16:creationId xmlns:a16="http://schemas.microsoft.com/office/drawing/2014/main" id="{24E64E92-0CC2-9179-BE58-E084BBA51244}"/>
              </a:ext>
            </a:extLst>
          </p:cNvPr>
          <p:cNvSpPr txBox="1"/>
          <p:nvPr/>
        </p:nvSpPr>
        <p:spPr>
          <a:xfrm>
            <a:off x="1041401" y="2709333"/>
            <a:ext cx="10143066" cy="1477328"/>
          </a:xfrm>
          <a:prstGeom prst="rect">
            <a:avLst/>
          </a:prstGeom>
          <a:noFill/>
        </p:spPr>
        <p:txBody>
          <a:bodyPr wrap="square" rtlCol="0">
            <a:spAutoFit/>
          </a:bodyPr>
          <a:lstStyle/>
          <a:p>
            <a:pPr lvl="0"/>
            <a:r>
              <a:rPr lang="en-IN" dirty="0"/>
              <a:t>Healthcare providers face severe cognitive fatigue parsing unstructured clinical notes, while general LLMs pose patient safety risks by generating ungrounded hallucinations without verifiable citations. Standard retrieval systems further degrade accuracy by searching vector databases with noisy raw text. This project addresses these challenges by combining biomedical entity extraction with literature-grounded LLM reasoning into a free, open-source clinical decision support system.</a:t>
            </a:r>
          </a:p>
        </p:txBody>
      </p:sp>
    </p:spTree>
    <p:extLst>
      <p:ext uri="{BB962C8B-B14F-4D97-AF65-F5344CB8AC3E}">
        <p14:creationId xmlns:p14="http://schemas.microsoft.com/office/powerpoint/2010/main" val="681904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14C62A-A6D5-85D4-F511-F40C872C9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C5168B5-6A18-E97B-F75A-5808BCAC6637}"/>
              </a:ext>
            </a:extLst>
          </p:cNvPr>
          <p:cNvSpPr txBox="1"/>
          <p:nvPr/>
        </p:nvSpPr>
        <p:spPr>
          <a:xfrm>
            <a:off x="5063066" y="1346200"/>
            <a:ext cx="5943600" cy="430887"/>
          </a:xfrm>
          <a:prstGeom prst="rect">
            <a:avLst/>
          </a:prstGeom>
          <a:noFill/>
        </p:spPr>
        <p:txBody>
          <a:bodyPr wrap="square" rtlCol="0">
            <a:spAutoFit/>
          </a:bodyPr>
          <a:lstStyle/>
          <a:p>
            <a:r>
              <a:rPr lang="en-IN" sz="2200" b="1" dirty="0"/>
              <a:t>Objectives</a:t>
            </a:r>
          </a:p>
        </p:txBody>
      </p:sp>
      <p:sp>
        <p:nvSpPr>
          <p:cNvPr id="7" name="TextBox 6">
            <a:extLst>
              <a:ext uri="{FF2B5EF4-FFF2-40B4-BE49-F238E27FC236}">
                <a16:creationId xmlns:a16="http://schemas.microsoft.com/office/drawing/2014/main" id="{E80C5EDF-36E1-B20A-4EE7-25642591F363}"/>
              </a:ext>
            </a:extLst>
          </p:cNvPr>
          <p:cNvSpPr txBox="1"/>
          <p:nvPr/>
        </p:nvSpPr>
        <p:spPr>
          <a:xfrm>
            <a:off x="795867" y="2082800"/>
            <a:ext cx="10261600" cy="3970318"/>
          </a:xfrm>
          <a:prstGeom prst="rect">
            <a:avLst/>
          </a:prstGeom>
          <a:noFill/>
        </p:spPr>
        <p:txBody>
          <a:bodyPr wrap="square" rtlCol="0">
            <a:spAutoFit/>
          </a:bodyPr>
          <a:lstStyle/>
          <a:p>
            <a:r>
              <a:rPr lang="en-IN" b="1" dirty="0"/>
              <a:t>What the Project Will Achieve :</a:t>
            </a:r>
          </a:p>
          <a:p>
            <a:endParaRPr lang="en-IN" b="1" dirty="0"/>
          </a:p>
          <a:p>
            <a:pPr marL="285750" lvl="0" indent="-285750">
              <a:buFont typeface="Arial" panose="020B0604020202020204" pitchFamily="34" charset="0"/>
              <a:buChar char="•"/>
            </a:pPr>
            <a:r>
              <a:rPr lang="en-IN" b="1" dirty="0"/>
              <a:t>Automated Medical Entity Extraction:</a:t>
            </a:r>
            <a:r>
              <a:rPr lang="en-IN" dirty="0"/>
              <a:t> Precisely extract symptoms, diagnoses, medications, and lab tests from unstructured clinical notes using </a:t>
            </a:r>
            <a:r>
              <a:rPr lang="en-IN" dirty="0" err="1"/>
              <a:t>BioBERT</a:t>
            </a:r>
            <a:r>
              <a:rPr lang="en-IN" dirty="0"/>
              <a:t> and </a:t>
            </a:r>
            <a:r>
              <a:rPr lang="en-IN" dirty="0" err="1"/>
              <a:t>SpaCy</a:t>
            </a:r>
            <a:r>
              <a:rPr lang="en-IN" dirty="0"/>
              <a:t> NLP pipelines.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Evidence-Grounded Recommendation Engine:</a:t>
            </a:r>
            <a:r>
              <a:rPr lang="en-IN" dirty="0"/>
              <a:t> Eliminate LLM hallucinations by retrieving verified medical knowledge from PubMed and MedQuAD vector indices before generating responses.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Citation-Backed Diagnostic Support:</a:t>
            </a:r>
            <a:r>
              <a:rPr lang="en-IN" dirty="0"/>
              <a:t> Provide structured clinical reasoning, suggested differential diagnoses, and required follow-up tests using Llama 3, complete with source citations.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Open-Source Decision Support Dashboard:</a:t>
            </a:r>
            <a:r>
              <a:rPr lang="en-IN" dirty="0"/>
              <a:t> Deliver a fully interactive </a:t>
            </a:r>
            <a:r>
              <a:rPr lang="en-IN" dirty="0" err="1"/>
              <a:t>Streamlit</a:t>
            </a:r>
            <a:r>
              <a:rPr lang="en-IN" dirty="0"/>
              <a:t> web interface demonstrating end-to-end clinical decision support without relying on paid tools or proprietary APIs.</a:t>
            </a:r>
          </a:p>
          <a:p>
            <a:endParaRPr lang="en-IN" dirty="0"/>
          </a:p>
        </p:txBody>
      </p:sp>
    </p:spTree>
    <p:extLst>
      <p:ext uri="{BB962C8B-B14F-4D97-AF65-F5344CB8AC3E}">
        <p14:creationId xmlns:p14="http://schemas.microsoft.com/office/powerpoint/2010/main" val="413105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A9AB93-8B00-B61B-25B0-23DA03DDF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graphicFrame>
        <p:nvGraphicFramePr>
          <p:cNvPr id="9" name="Table 8">
            <a:extLst>
              <a:ext uri="{FF2B5EF4-FFF2-40B4-BE49-F238E27FC236}">
                <a16:creationId xmlns:a16="http://schemas.microsoft.com/office/drawing/2014/main" id="{20978923-9769-A40D-D9B9-70198CE06204}"/>
              </a:ext>
            </a:extLst>
          </p:cNvPr>
          <p:cNvGraphicFramePr>
            <a:graphicFrameLocks noGrp="1"/>
          </p:cNvGraphicFramePr>
          <p:nvPr>
            <p:extLst>
              <p:ext uri="{D42A27DB-BD31-4B8C-83A1-F6EECF244321}">
                <p14:modId xmlns:p14="http://schemas.microsoft.com/office/powerpoint/2010/main" val="341913254"/>
              </p:ext>
            </p:extLst>
          </p:nvPr>
        </p:nvGraphicFramePr>
        <p:xfrm>
          <a:off x="880533" y="2580588"/>
          <a:ext cx="10515600" cy="2255520"/>
        </p:xfrm>
        <a:graphic>
          <a:graphicData uri="http://schemas.openxmlformats.org/drawingml/2006/table">
            <a:tbl>
              <a:tblPr/>
              <a:tblGrid>
                <a:gridCol w="3505200">
                  <a:extLst>
                    <a:ext uri="{9D8B030D-6E8A-4147-A177-3AD203B41FA5}">
                      <a16:colId xmlns:a16="http://schemas.microsoft.com/office/drawing/2014/main" val="2524853104"/>
                    </a:ext>
                  </a:extLst>
                </a:gridCol>
                <a:gridCol w="3505200">
                  <a:extLst>
                    <a:ext uri="{9D8B030D-6E8A-4147-A177-3AD203B41FA5}">
                      <a16:colId xmlns:a16="http://schemas.microsoft.com/office/drawing/2014/main" val="1622254581"/>
                    </a:ext>
                  </a:extLst>
                </a:gridCol>
                <a:gridCol w="3505200">
                  <a:extLst>
                    <a:ext uri="{9D8B030D-6E8A-4147-A177-3AD203B41FA5}">
                      <a16:colId xmlns:a16="http://schemas.microsoft.com/office/drawing/2014/main" val="1970995257"/>
                    </a:ext>
                  </a:extLst>
                </a:gridCol>
              </a:tblGrid>
              <a:tr h="0">
                <a:tc>
                  <a:txBody>
                    <a:bodyPr/>
                    <a:lstStyle/>
                    <a:p>
                      <a:pPr marL="0" marR="0" rtl="0">
                        <a:spcAft>
                          <a:spcPts val="2400"/>
                        </a:spcAft>
                        <a:buNone/>
                      </a:pPr>
                      <a:r>
                        <a:rPr lang="en-IN" b="1" dirty="0">
                          <a:solidFill>
                            <a:srgbClr val="1F1F1F"/>
                          </a:solidFill>
                          <a:effectLst/>
                          <a:latin typeface="Google Sans Text"/>
                        </a:rPr>
                        <a:t>Approach</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a:solidFill>
                            <a:srgbClr val="1F1F1F"/>
                          </a:solidFill>
                          <a:effectLst/>
                          <a:latin typeface="Google Sans Text"/>
                        </a:rPr>
                        <a:t>Key Strength</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a:solidFill>
                            <a:srgbClr val="1F1F1F"/>
                          </a:solidFill>
                          <a:effectLst/>
                          <a:latin typeface="Google Sans Text"/>
                        </a:rPr>
                        <a:t>Main Limitation</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40669093"/>
                  </a:ext>
                </a:extLst>
              </a:tr>
              <a:tr h="0">
                <a:tc>
                  <a:txBody>
                    <a:bodyPr/>
                    <a:lstStyle/>
                    <a:p>
                      <a:pPr marL="0" marR="0" rtl="0">
                        <a:spcAft>
                          <a:spcPts val="2400"/>
                        </a:spcAft>
                        <a:buNone/>
                      </a:pPr>
                      <a:r>
                        <a:rPr lang="en-IN" b="1" dirty="0">
                          <a:solidFill>
                            <a:srgbClr val="1F1F1F"/>
                          </a:solidFill>
                          <a:effectLst/>
                          <a:latin typeface="Google Sans Text"/>
                        </a:rPr>
                        <a:t>Biomedical Encoders</a:t>
                      </a:r>
                      <a:r>
                        <a:rPr lang="en-IN" dirty="0">
                          <a:solidFill>
                            <a:srgbClr val="1F1F1F"/>
                          </a:solidFill>
                          <a:effectLst/>
                          <a:latin typeface="Google Sans Text"/>
                        </a:rPr>
                        <a:t> </a:t>
                      </a:r>
                      <a:r>
                        <a:rPr lang="en-IN" i="1" dirty="0">
                          <a:solidFill>
                            <a:srgbClr val="1F1F1F"/>
                          </a:solidFill>
                          <a:effectLst/>
                          <a:latin typeface="Google Sans Text"/>
                        </a:rPr>
                        <a:t>(</a:t>
                      </a:r>
                      <a:r>
                        <a:rPr lang="en-IN" i="1" dirty="0" err="1">
                          <a:solidFill>
                            <a:srgbClr val="1F1F1F"/>
                          </a:solidFill>
                          <a:effectLst/>
                          <a:latin typeface="Google Sans Text"/>
                        </a:rPr>
                        <a:t>BioBERT</a:t>
                      </a:r>
                      <a:r>
                        <a:rPr lang="en-IN" i="1" dirty="0">
                          <a:solidFill>
                            <a:srgbClr val="1F1F1F"/>
                          </a:solidFill>
                          <a:effectLst/>
                          <a:latin typeface="Google Sans Text"/>
                        </a:rPr>
                        <a:t>)</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a:solidFill>
                            <a:srgbClr val="1F1F1F"/>
                          </a:solidFill>
                          <a:effectLst/>
                          <a:latin typeface="Google Sans Text"/>
                        </a:rPr>
                        <a:t>Accurate Medical Entity Extraction</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dirty="0">
                          <a:solidFill>
                            <a:srgbClr val="1F1F1F"/>
                          </a:solidFill>
                          <a:effectLst/>
                          <a:latin typeface="Google Sans Text"/>
                        </a:rPr>
                        <a:t>Cannot generate text or recommendations</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18626283"/>
                  </a:ext>
                </a:extLst>
              </a:tr>
              <a:tr h="0">
                <a:tc>
                  <a:txBody>
                    <a:bodyPr/>
                    <a:lstStyle/>
                    <a:p>
                      <a:pPr marL="0" marR="0" rtl="0">
                        <a:spcAft>
                          <a:spcPts val="2400"/>
                        </a:spcAft>
                        <a:buNone/>
                      </a:pPr>
                      <a:r>
                        <a:rPr lang="en-IN" b="1">
                          <a:solidFill>
                            <a:srgbClr val="1F1F1F"/>
                          </a:solidFill>
                          <a:effectLst/>
                          <a:latin typeface="Google Sans Text"/>
                        </a:rPr>
                        <a:t>Standalone LLMs</a:t>
                      </a:r>
                      <a:r>
                        <a:rPr lang="en-IN">
                          <a:solidFill>
                            <a:srgbClr val="1F1F1F"/>
                          </a:solidFill>
                          <a:effectLst/>
                          <a:latin typeface="Google Sans Text"/>
                        </a:rPr>
                        <a:t> </a:t>
                      </a:r>
                      <a:r>
                        <a:rPr lang="en-IN" i="1">
                          <a:solidFill>
                            <a:srgbClr val="1F1F1F"/>
                          </a:solidFill>
                          <a:effectLst/>
                          <a:latin typeface="Google Sans Text"/>
                        </a:rPr>
                        <a:t>(Llama 3 / GPT)</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a:solidFill>
                            <a:srgbClr val="1F1F1F"/>
                          </a:solidFill>
                          <a:effectLst/>
                          <a:latin typeface="Google Sans Text"/>
                        </a:rPr>
                        <a:t>Fluent clinical reasoning</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a:solidFill>
                            <a:srgbClr val="1F1F1F"/>
                          </a:solidFill>
                          <a:effectLst/>
                          <a:latin typeface="Google Sans Text"/>
                        </a:rPr>
                        <a:t>High risk of medical hallucinations</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42291451"/>
                  </a:ext>
                </a:extLst>
              </a:tr>
              <a:tr h="0">
                <a:tc>
                  <a:txBody>
                    <a:bodyPr/>
                    <a:lstStyle/>
                    <a:p>
                      <a:pPr marL="0" marR="0" rtl="0">
                        <a:spcAft>
                          <a:spcPts val="2400"/>
                        </a:spcAft>
                        <a:buNone/>
                      </a:pPr>
                      <a:r>
                        <a:rPr lang="en-IN" b="1">
                          <a:solidFill>
                            <a:srgbClr val="1F1F1F"/>
                          </a:solidFill>
                          <a:effectLst/>
                          <a:latin typeface="Google Sans Text"/>
                        </a:rPr>
                        <a:t>Standard RAG</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a:solidFill>
                            <a:srgbClr val="1F1F1F"/>
                          </a:solidFill>
                          <a:effectLst/>
                          <a:latin typeface="Google Sans Text"/>
                        </a:rPr>
                        <a:t>Uses external knowledge</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a:solidFill>
                            <a:srgbClr val="1F1F1F"/>
                          </a:solidFill>
                          <a:effectLst/>
                          <a:latin typeface="Google Sans Text"/>
                        </a:rPr>
                        <a:t>Vector search on raw notes is noisy</a:t>
                      </a: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512742220"/>
                  </a:ext>
                </a:extLst>
              </a:tr>
              <a:tr h="0">
                <a:tc>
                  <a:txBody>
                    <a:bodyPr/>
                    <a:lstStyle/>
                    <a:p>
                      <a:pPr marL="0" marR="0" rtl="0">
                        <a:spcAft>
                          <a:spcPts val="2400"/>
                        </a:spcAft>
                        <a:buNone/>
                      </a:pPr>
                      <a:r>
                        <a:rPr lang="en-IN" b="1">
                          <a:solidFill>
                            <a:srgbClr val="1F1F1F"/>
                          </a:solidFill>
                          <a:effectLst/>
                          <a:latin typeface="Google Sans Text"/>
                        </a:rPr>
                        <a:t>ClinicaRAG (Proposed)</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a:solidFill>
                            <a:srgbClr val="1F1F1F"/>
                          </a:solidFill>
                          <a:effectLst/>
                          <a:latin typeface="Google Sans Text"/>
                        </a:rPr>
                        <a:t>Entity-guided RAG with citations</a:t>
                      </a:r>
                      <a:endParaRPr lang="en-IN">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IN" b="1" dirty="0">
                          <a:solidFill>
                            <a:srgbClr val="1F1F1F"/>
                          </a:solidFill>
                          <a:effectLst/>
                          <a:latin typeface="Google Sans Text"/>
                        </a:rPr>
                        <a:t>Limited to vector store coverage</a:t>
                      </a:r>
                      <a:endParaRPr lang="en-IN" dirty="0">
                        <a:solidFill>
                          <a:srgbClr val="1F1F1F"/>
                        </a:solidFill>
                        <a:effectLst/>
                        <a:latin typeface="Google Sans Text"/>
                      </a:endParaRPr>
                    </a:p>
                  </a:txBody>
                  <a:tcPr marT="60960" marB="60960"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25248536"/>
                  </a:ext>
                </a:extLst>
              </a:tr>
            </a:tbl>
          </a:graphicData>
        </a:graphic>
      </p:graphicFrame>
      <p:sp>
        <p:nvSpPr>
          <p:cNvPr id="11" name="TextBox 10">
            <a:extLst>
              <a:ext uri="{FF2B5EF4-FFF2-40B4-BE49-F238E27FC236}">
                <a16:creationId xmlns:a16="http://schemas.microsoft.com/office/drawing/2014/main" id="{F0DA0EFA-A4E7-C14A-77D1-FB661563C410}"/>
              </a:ext>
            </a:extLst>
          </p:cNvPr>
          <p:cNvSpPr txBox="1"/>
          <p:nvPr/>
        </p:nvSpPr>
        <p:spPr>
          <a:xfrm>
            <a:off x="4529667" y="1322401"/>
            <a:ext cx="6096000" cy="369332"/>
          </a:xfrm>
          <a:prstGeom prst="rect">
            <a:avLst/>
          </a:prstGeom>
          <a:noFill/>
        </p:spPr>
        <p:txBody>
          <a:bodyPr wrap="square">
            <a:spAutoFit/>
          </a:bodyPr>
          <a:lstStyle/>
          <a:p>
            <a:pPr marL="0" marR="0" rtl="0">
              <a:buNone/>
            </a:pPr>
            <a:r>
              <a:rPr lang="en-IN" b="1" dirty="0">
                <a:solidFill>
                  <a:srgbClr val="1F1F1F"/>
                </a:solidFill>
                <a:effectLst/>
                <a:latin typeface="Google Sans"/>
              </a:rPr>
              <a:t>Literature Survey Summary</a:t>
            </a:r>
          </a:p>
        </p:txBody>
      </p:sp>
    </p:spTree>
    <p:extLst>
      <p:ext uri="{BB962C8B-B14F-4D97-AF65-F5344CB8AC3E}">
        <p14:creationId xmlns:p14="http://schemas.microsoft.com/office/powerpoint/2010/main" val="2712314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AC9A9C-6AD7-9C54-01CF-CBCD0B243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AE7088FF-EF0D-406A-8B5A-FBFFE903A42C}"/>
              </a:ext>
            </a:extLst>
          </p:cNvPr>
          <p:cNvSpPr txBox="1"/>
          <p:nvPr/>
        </p:nvSpPr>
        <p:spPr>
          <a:xfrm>
            <a:off x="4292600" y="1320800"/>
            <a:ext cx="5249333" cy="430887"/>
          </a:xfrm>
          <a:prstGeom prst="rect">
            <a:avLst/>
          </a:prstGeom>
          <a:noFill/>
        </p:spPr>
        <p:txBody>
          <a:bodyPr wrap="square" rtlCol="0">
            <a:spAutoFit/>
          </a:bodyPr>
          <a:lstStyle/>
          <a:p>
            <a:r>
              <a:rPr lang="en-IN" sz="2200" b="1" dirty="0"/>
              <a:t>Research Gap Identification</a:t>
            </a:r>
          </a:p>
        </p:txBody>
      </p:sp>
      <p:sp>
        <p:nvSpPr>
          <p:cNvPr id="7" name="TextBox 6">
            <a:extLst>
              <a:ext uri="{FF2B5EF4-FFF2-40B4-BE49-F238E27FC236}">
                <a16:creationId xmlns:a16="http://schemas.microsoft.com/office/drawing/2014/main" id="{5BD799FE-8D4D-8D9E-E5C3-A5BD0D235E1A}"/>
              </a:ext>
            </a:extLst>
          </p:cNvPr>
          <p:cNvSpPr txBox="1"/>
          <p:nvPr/>
        </p:nvSpPr>
        <p:spPr>
          <a:xfrm>
            <a:off x="1676400" y="2480733"/>
            <a:ext cx="9330267"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Gap 1: Disconnect Between Entity Extraction and Context Retrieval:</a:t>
            </a:r>
            <a:r>
              <a:rPr lang="en-IN" dirty="0"/>
              <a:t> Existing CDSS architectures perform either entity extraction or vector retrieval independently, missing the synergy of using extracted medical entities to drive precision RAG queries.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2: Absence of Verifiable Citations in Generative Medical AI:</a:t>
            </a:r>
            <a:r>
              <a:rPr lang="en-IN" dirty="0"/>
              <a:t> Most generative models provide answers without linking specific recommendations back to underlying medical QA databases or literature.</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Gap 3: High Resource &amp; Cost Barriers:</a:t>
            </a:r>
            <a:r>
              <a:rPr lang="en-IN" dirty="0"/>
              <a:t> Enterprise CDSS solutions are proprietary, expensive, and demand heavy GPU infrastructure, limiting deployment in resource-constrained environments.</a:t>
            </a:r>
          </a:p>
        </p:txBody>
      </p:sp>
    </p:spTree>
    <p:extLst>
      <p:ext uri="{BB962C8B-B14F-4D97-AF65-F5344CB8AC3E}">
        <p14:creationId xmlns:p14="http://schemas.microsoft.com/office/powerpoint/2010/main" val="1321699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B04C-7359-847C-88A0-6AA45EF44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0BE1C8-6990-9BED-144C-A1C3BA8BC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3" name="TextBox 2">
            <a:extLst>
              <a:ext uri="{FF2B5EF4-FFF2-40B4-BE49-F238E27FC236}">
                <a16:creationId xmlns:a16="http://schemas.microsoft.com/office/drawing/2014/main" id="{BF79DB67-4E62-F4A9-0F84-D7EF1DCA261F}"/>
              </a:ext>
            </a:extLst>
          </p:cNvPr>
          <p:cNvSpPr txBox="1"/>
          <p:nvPr/>
        </p:nvSpPr>
        <p:spPr>
          <a:xfrm>
            <a:off x="770466" y="1284955"/>
            <a:ext cx="10278533" cy="4862870"/>
          </a:xfrm>
          <a:prstGeom prst="rect">
            <a:avLst/>
          </a:prstGeom>
          <a:noFill/>
        </p:spPr>
        <p:txBody>
          <a:bodyPr wrap="square">
            <a:spAutoFit/>
          </a:bodyPr>
          <a:lstStyle/>
          <a:p>
            <a:pPr algn="ctr"/>
            <a:r>
              <a:rPr lang="en-IN" sz="2200" b="1" dirty="0"/>
              <a:t>Dataset : MedQuAD (Medical Question Answering Dataset) </a:t>
            </a:r>
          </a:p>
          <a:p>
            <a:endParaRPr lang="en-IN" dirty="0"/>
          </a:p>
          <a:p>
            <a:pPr marL="285750" indent="-285750">
              <a:buFont typeface="Arial" panose="020B0604020202020204" pitchFamily="34" charset="0"/>
              <a:buChar char="•"/>
            </a:pPr>
            <a:r>
              <a:rPr lang="en-IN" dirty="0"/>
              <a:t>It is a medical QA dataset containing 16,407 question–answer records collected from trusted medical sources. After cleaning, 16,359 valid records were used in our pipeline.</a:t>
            </a:r>
          </a:p>
          <a:p>
            <a:endParaRPr lang="en-IN" dirty="0"/>
          </a:p>
          <a:p>
            <a:pPr marL="285750" indent="-285750">
              <a:buFont typeface="Arial" panose="020B0604020202020204" pitchFamily="34" charset="0"/>
              <a:buChar char="•"/>
            </a:pPr>
            <a:r>
              <a:rPr lang="en-IN" dirty="0"/>
              <a:t>Features Extracted</a:t>
            </a:r>
          </a:p>
          <a:p>
            <a:r>
              <a:rPr lang="en-IN" dirty="0"/>
              <a:t>Question – Patient/medical information query</a:t>
            </a:r>
          </a:p>
          <a:p>
            <a:r>
              <a:rPr lang="en-IN" dirty="0"/>
              <a:t>Answer – Corresponding medical explanation</a:t>
            </a:r>
          </a:p>
          <a:p>
            <a:r>
              <a:rPr lang="en-IN" dirty="0"/>
              <a:t>Question Type (</a:t>
            </a:r>
            <a:r>
              <a:rPr lang="en-IN" dirty="0" err="1"/>
              <a:t>qtype</a:t>
            </a:r>
            <a:r>
              <a:rPr lang="en-IN" dirty="0"/>
              <a:t>) – Categorizes the type of medical question</a:t>
            </a:r>
          </a:p>
          <a:p>
            <a:r>
              <a:rPr lang="en-IN" dirty="0"/>
              <a:t>Text Chunks – Long answers are divided into overlapping chunks for efficient retrieval</a:t>
            </a:r>
          </a:p>
          <a:p>
            <a:endParaRPr lang="en-IN" dirty="0"/>
          </a:p>
          <a:p>
            <a:r>
              <a:rPr lang="en-IN" dirty="0"/>
              <a:t>MedQuAD → Data Cleaning → Chunking → </a:t>
            </a:r>
            <a:r>
              <a:rPr lang="en-IN" dirty="0" err="1"/>
              <a:t>SentenceTransformer</a:t>
            </a:r>
            <a:r>
              <a:rPr lang="en-IN" dirty="0"/>
              <a:t> Embeddings → </a:t>
            </a:r>
            <a:r>
              <a:rPr lang="en-IN" dirty="0" err="1"/>
              <a:t>ChromaDB</a:t>
            </a:r>
            <a:endParaRPr lang="en-IN" dirty="0"/>
          </a:p>
          <a:p>
            <a:endParaRPr lang="en-IN" dirty="0"/>
          </a:p>
          <a:p>
            <a:pPr marL="285750" indent="-285750">
              <a:buFont typeface="Arial" panose="020B0604020202020204" pitchFamily="34" charset="0"/>
              <a:buChar char="•"/>
            </a:pPr>
            <a:r>
              <a:rPr lang="en-IN" dirty="0"/>
              <a:t>Generated 384-dimensional embeddings using all-MiniLM-L6-v2</a:t>
            </a:r>
          </a:p>
          <a:p>
            <a:pPr marL="285750" indent="-285750">
              <a:buFont typeface="Arial" panose="020B0604020202020204" pitchFamily="34" charset="0"/>
              <a:buChar char="•"/>
            </a:pPr>
            <a:r>
              <a:rPr lang="en-IN" dirty="0"/>
              <a:t>Indexed 5,000 chunks in </a:t>
            </a:r>
            <a:r>
              <a:rPr lang="en-IN" dirty="0" err="1"/>
              <a:t>ChromaDB</a:t>
            </a:r>
            <a:r>
              <a:rPr lang="en-IN" dirty="0"/>
              <a:t> during development</a:t>
            </a:r>
          </a:p>
          <a:p>
            <a:pPr marL="285750" indent="-285750">
              <a:buFont typeface="Arial" panose="020B0604020202020204" pitchFamily="34" charset="0"/>
              <a:buChar char="•"/>
            </a:pPr>
            <a:r>
              <a:rPr lang="en-IN" dirty="0"/>
              <a:t>Used for semantic search and retrieval of relevant medical knowledge to support the </a:t>
            </a:r>
            <a:r>
              <a:rPr lang="en-IN" dirty="0" err="1"/>
              <a:t>ClinicaRAG</a:t>
            </a:r>
            <a:r>
              <a:rPr lang="en-IN" dirty="0"/>
              <a:t> RAG pipeline.</a:t>
            </a:r>
          </a:p>
        </p:txBody>
      </p:sp>
    </p:spTree>
    <p:extLst>
      <p:ext uri="{BB962C8B-B14F-4D97-AF65-F5344CB8AC3E}">
        <p14:creationId xmlns:p14="http://schemas.microsoft.com/office/powerpoint/2010/main" val="3534381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CE8A0-7BE3-9174-3E97-7C7019EB2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9" name="TextBox 8">
            <a:extLst>
              <a:ext uri="{FF2B5EF4-FFF2-40B4-BE49-F238E27FC236}">
                <a16:creationId xmlns:a16="http://schemas.microsoft.com/office/drawing/2014/main" id="{0A96FEFA-4DF5-B0D9-3A34-5DCA0CCBFF43}"/>
              </a:ext>
            </a:extLst>
          </p:cNvPr>
          <p:cNvSpPr txBox="1"/>
          <p:nvPr/>
        </p:nvSpPr>
        <p:spPr>
          <a:xfrm>
            <a:off x="1032934" y="1426908"/>
            <a:ext cx="10278533" cy="4370427"/>
          </a:xfrm>
          <a:prstGeom prst="rect">
            <a:avLst/>
          </a:prstGeom>
          <a:noFill/>
        </p:spPr>
        <p:txBody>
          <a:bodyPr wrap="square">
            <a:spAutoFit/>
          </a:bodyPr>
          <a:lstStyle/>
          <a:p>
            <a:pPr lvl="1" algn="ctr"/>
            <a:r>
              <a:rPr lang="en-IN" sz="2200" b="1" dirty="0"/>
              <a:t>Dataset </a:t>
            </a:r>
          </a:p>
          <a:p>
            <a:pPr lvl="1" algn="ctr"/>
            <a:endParaRPr lang="en-IN" sz="2200" b="1" dirty="0"/>
          </a:p>
          <a:p>
            <a:pPr marL="742950" lvl="1" indent="-285750">
              <a:buFont typeface="Arial" panose="020B0604020202020204" pitchFamily="34" charset="0"/>
              <a:buChar char="•"/>
            </a:pPr>
            <a:r>
              <a:rPr lang="en-IN" dirty="0"/>
              <a:t>Primary: Medical Transcriptions(mtsamples.csv) providing raw, unstructured clinical notes.</a:t>
            </a:r>
          </a:p>
          <a:p>
            <a:pPr marL="742950" lvl="1" indent="-285750">
              <a:buFont typeface="Arial" panose="020B0604020202020204" pitchFamily="34" charset="0"/>
              <a:buChar char="•"/>
            </a:pPr>
            <a:r>
              <a:rPr lang="en-IN" dirty="0"/>
              <a:t>Secondary: MedQuAD &amp; </a:t>
            </a:r>
            <a:r>
              <a:rPr lang="en-IN" dirty="0" err="1"/>
              <a:t>PubMedQAserving</a:t>
            </a:r>
            <a:r>
              <a:rPr lang="en-IN" dirty="0"/>
              <a:t> as the medical knowledge base.</a:t>
            </a:r>
          </a:p>
          <a:p>
            <a:pPr lvl="1"/>
            <a:endParaRPr lang="en-IN" dirty="0"/>
          </a:p>
          <a:p>
            <a:pPr marL="742950" lvl="1" indent="-285750">
              <a:buFont typeface="Arial" panose="020B0604020202020204" pitchFamily="34" charset="0"/>
              <a:buChar char="•"/>
            </a:pPr>
            <a:r>
              <a:rPr lang="en-IN" dirty="0"/>
              <a:t>Features We Extracted</a:t>
            </a:r>
          </a:p>
          <a:p>
            <a:pPr lvl="1"/>
            <a:r>
              <a:rPr lang="en-IN" dirty="0"/>
              <a:t>NLP (</a:t>
            </a:r>
            <a:r>
              <a:rPr lang="en-IN" dirty="0" err="1"/>
              <a:t>SpaCy</a:t>
            </a:r>
            <a:r>
              <a:rPr lang="en-IN" dirty="0"/>
              <a:t>): Cleaned, lemmatized tokens and TF-IDF/</a:t>
            </a:r>
            <a:r>
              <a:rPr lang="en-IN" dirty="0" err="1"/>
              <a:t>BoW</a:t>
            </a:r>
            <a:r>
              <a:rPr lang="en-IN" dirty="0"/>
              <a:t> matrices.</a:t>
            </a:r>
          </a:p>
          <a:p>
            <a:pPr lvl="1"/>
            <a:r>
              <a:rPr lang="en-IN" dirty="0"/>
              <a:t>NER (</a:t>
            </a:r>
            <a:r>
              <a:rPr lang="en-IN" dirty="0" err="1"/>
              <a:t>BioBERT</a:t>
            </a:r>
            <a:r>
              <a:rPr lang="en-IN" dirty="0"/>
              <a:t>): Extracted 4 core medical entities into strict JSON schema: Symptoms, Suspected Diagnoses, Medications, and Lab Tests.</a:t>
            </a:r>
          </a:p>
          <a:p>
            <a:pPr lvl="1"/>
            <a:endParaRPr lang="en-IN" dirty="0"/>
          </a:p>
          <a:p>
            <a:pPr marL="742950" lvl="1" indent="-285750">
              <a:buFont typeface="Arial" panose="020B0604020202020204" pitchFamily="34" charset="0"/>
              <a:buChar char="•"/>
            </a:pPr>
            <a:r>
              <a:rPr lang="en-IN" dirty="0"/>
              <a:t>How We Are Using It</a:t>
            </a:r>
          </a:p>
          <a:p>
            <a:pPr lvl="1"/>
            <a:r>
              <a:rPr lang="en-IN" dirty="0"/>
              <a:t>Unstructured notes are cleaned and parsed into entities. These entities are used to query our </a:t>
            </a:r>
            <a:r>
              <a:rPr lang="en-IN" dirty="0" err="1"/>
              <a:t>ChromaDB</a:t>
            </a:r>
            <a:r>
              <a:rPr lang="en-IN" dirty="0"/>
              <a:t> vector store (RAG), fetching medical evidence to feed the Llama 3 LLM for final clinical decision support.</a:t>
            </a:r>
          </a:p>
          <a:p>
            <a:pPr lvl="1"/>
            <a:r>
              <a:rPr lang="en-IN" dirty="0"/>
              <a:t>Medical data analysis and electronic health records dashboard, modern blue and teal </a:t>
            </a:r>
            <a:r>
              <a:rPr lang="en-IN" dirty="0" err="1"/>
              <a:t>color</a:t>
            </a:r>
            <a:r>
              <a:rPr lang="en-IN" dirty="0"/>
              <a:t> palette</a:t>
            </a:r>
          </a:p>
        </p:txBody>
      </p:sp>
    </p:spTree>
    <p:extLst>
      <p:ext uri="{BB962C8B-B14F-4D97-AF65-F5344CB8AC3E}">
        <p14:creationId xmlns:p14="http://schemas.microsoft.com/office/powerpoint/2010/main" val="411880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08B404-5853-6DB4-9054-BB7EA572A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7" name="TextBox 6">
            <a:extLst>
              <a:ext uri="{FF2B5EF4-FFF2-40B4-BE49-F238E27FC236}">
                <a16:creationId xmlns:a16="http://schemas.microsoft.com/office/drawing/2014/main" id="{6685732A-6B08-AE6B-83A8-5EEA5F99D943}"/>
              </a:ext>
            </a:extLst>
          </p:cNvPr>
          <p:cNvSpPr txBox="1"/>
          <p:nvPr/>
        </p:nvSpPr>
        <p:spPr>
          <a:xfrm>
            <a:off x="423333" y="1244601"/>
            <a:ext cx="11590867" cy="5078313"/>
          </a:xfrm>
          <a:prstGeom prst="rect">
            <a:avLst/>
          </a:prstGeom>
          <a:noFill/>
        </p:spPr>
        <p:txBody>
          <a:bodyPr wrap="square" rtlCol="0">
            <a:spAutoFit/>
          </a:bodyPr>
          <a:lstStyle/>
          <a:p>
            <a:pPr algn="ctr"/>
            <a:r>
              <a:rPr lang="en-IN" b="1" dirty="0"/>
              <a:t>Innovation (Technical Advancements)</a:t>
            </a:r>
          </a:p>
          <a:p>
            <a:pPr marL="285750" lvl="0" indent="-285750">
              <a:buFont typeface="Arial" panose="020B0604020202020204" pitchFamily="34" charset="0"/>
              <a:buChar char="•"/>
            </a:pPr>
            <a:r>
              <a:rPr lang="en-IN" b="1" dirty="0"/>
              <a:t>Entity-Guided RAG Querying:</a:t>
            </a:r>
            <a:r>
              <a:rPr lang="en-IN" dirty="0"/>
              <a:t> Uses </a:t>
            </a:r>
            <a:r>
              <a:rPr lang="en-IN" dirty="0" err="1"/>
              <a:t>BioBERT</a:t>
            </a:r>
            <a:r>
              <a:rPr lang="en-IN" dirty="0"/>
              <a:t> NER to convert raw clinical notes into structured entity queries (symptoms, drugs, labs) before searching </a:t>
            </a:r>
            <a:r>
              <a:rPr lang="en-IN" dirty="0" err="1"/>
              <a:t>ChromaDB</a:t>
            </a:r>
            <a:r>
              <a:rPr lang="en-IN" dirty="0"/>
              <a:t>, eliminating noise from raw-text vector search.</a:t>
            </a:r>
          </a:p>
          <a:p>
            <a:pPr marL="285750" lvl="0" indent="-285750">
              <a:buFont typeface="Arial" panose="020B0604020202020204" pitchFamily="34" charset="0"/>
              <a:buChar char="•"/>
            </a:pPr>
            <a:r>
              <a:rPr lang="en-IN" b="1" dirty="0"/>
              <a:t>Two-Stage Hybrid Architecture:</a:t>
            </a:r>
            <a:r>
              <a:rPr lang="en-IN" dirty="0"/>
              <a:t> Fuses specialized biomedical transformer encoders (</a:t>
            </a:r>
            <a:r>
              <a:rPr lang="en-IN" dirty="0" err="1"/>
              <a:t>BioBERT</a:t>
            </a:r>
            <a:r>
              <a:rPr lang="en-IN" dirty="0"/>
              <a:t>) with generative LLM reasoning (Llama 3) in a unified pipeline.</a:t>
            </a:r>
          </a:p>
          <a:p>
            <a:pPr algn="ctr"/>
            <a:endParaRPr lang="en-IN" b="1" dirty="0"/>
          </a:p>
          <a:p>
            <a:pPr algn="ctr"/>
            <a:r>
              <a:rPr lang="en-IN" b="1" dirty="0"/>
              <a:t>Creativity (Unique Features &amp; UX)</a:t>
            </a:r>
          </a:p>
          <a:p>
            <a:pPr marL="285750" lvl="0" indent="-285750">
              <a:buFont typeface="Arial" panose="020B0604020202020204" pitchFamily="34" charset="0"/>
              <a:buChar char="•"/>
            </a:pPr>
            <a:r>
              <a:rPr lang="en-IN" b="1" dirty="0"/>
              <a:t>Dynamic "What-If" Symptom Sandbox:</a:t>
            </a:r>
            <a:r>
              <a:rPr lang="en-IN" dirty="0"/>
              <a:t> Interactive dashboard feature allowing clinicians to toggle or modify patient symptoms in real-time to see live diagnostic updates.</a:t>
            </a:r>
          </a:p>
          <a:p>
            <a:pPr marL="285750" lvl="0" indent="-285750">
              <a:buFont typeface="Arial" panose="020B0604020202020204" pitchFamily="34" charset="0"/>
              <a:buChar char="•"/>
            </a:pPr>
            <a:r>
              <a:rPr lang="en-IN" b="1" dirty="0"/>
              <a:t>Automated Red-Flag Safety Shield:</a:t>
            </a:r>
            <a:r>
              <a:rPr lang="en-IN" dirty="0"/>
              <a:t> Real-time safety layer that cross-references extracted medications against patient symptoms to flag contraindications before generating clinical recommendations.</a:t>
            </a:r>
          </a:p>
          <a:p>
            <a:pPr algn="ctr"/>
            <a:endParaRPr lang="en-IN" b="1" dirty="0"/>
          </a:p>
          <a:p>
            <a:pPr algn="ctr"/>
            <a:r>
              <a:rPr lang="en-IN" b="1" dirty="0"/>
              <a:t>Novelty (Unique Value Proposition)</a:t>
            </a:r>
          </a:p>
          <a:p>
            <a:pPr marL="285750" lvl="0" indent="-285750">
              <a:buFont typeface="Arial" panose="020B0604020202020204" pitchFamily="34" charset="0"/>
              <a:buChar char="•"/>
            </a:pPr>
            <a:r>
              <a:rPr lang="en-IN" b="1" dirty="0"/>
              <a:t>Verifiable Citation Grounding:</a:t>
            </a:r>
            <a:r>
              <a:rPr lang="en-IN" dirty="0"/>
              <a:t> Guarantees every diagnostic suggestion is explicitly back-referenced to supporting passages from PubMed and MedQuAD literature.</a:t>
            </a:r>
          </a:p>
          <a:p>
            <a:pPr marL="285750" lvl="0" indent="-285750">
              <a:buFont typeface="Arial" panose="020B0604020202020204" pitchFamily="34" charset="0"/>
              <a:buChar char="•"/>
            </a:pPr>
            <a:r>
              <a:rPr lang="en-IN" b="1" dirty="0"/>
              <a:t>100% Free &amp; Open-Source Stack:</a:t>
            </a:r>
            <a:r>
              <a:rPr lang="en-IN" dirty="0"/>
              <a:t> Demonstrates enterprise-grade clinical decision support using a zero-cost architecture (</a:t>
            </a:r>
            <a:r>
              <a:rPr lang="en-IN" dirty="0" err="1"/>
              <a:t>BioBERT</a:t>
            </a:r>
            <a:r>
              <a:rPr lang="en-IN" dirty="0"/>
              <a:t>, Llama 3 8B, </a:t>
            </a:r>
            <a:r>
              <a:rPr lang="en-IN" dirty="0" err="1"/>
              <a:t>ChromaDB</a:t>
            </a:r>
            <a:r>
              <a:rPr lang="en-IN" dirty="0"/>
              <a:t>, and </a:t>
            </a:r>
            <a:r>
              <a:rPr lang="en-IN" dirty="0" err="1"/>
              <a:t>Streamlit</a:t>
            </a:r>
            <a:r>
              <a:rPr lang="en-IN" dirty="0"/>
              <a:t>).</a:t>
            </a:r>
          </a:p>
          <a:p>
            <a:endParaRPr lang="en-IN" dirty="0"/>
          </a:p>
        </p:txBody>
      </p:sp>
    </p:spTree>
    <p:extLst>
      <p:ext uri="{BB962C8B-B14F-4D97-AF65-F5344CB8AC3E}">
        <p14:creationId xmlns:p14="http://schemas.microsoft.com/office/powerpoint/2010/main" val="282500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E2F0D2-03E4-F8DA-FDBD-53194B114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CA27927D-EFE6-DCF7-A9C4-EBBBD1500620}"/>
              </a:ext>
            </a:extLst>
          </p:cNvPr>
          <p:cNvSpPr txBox="1"/>
          <p:nvPr/>
        </p:nvSpPr>
        <p:spPr>
          <a:xfrm>
            <a:off x="4622800" y="1380066"/>
            <a:ext cx="6527800" cy="430887"/>
          </a:xfrm>
          <a:prstGeom prst="rect">
            <a:avLst/>
          </a:prstGeom>
          <a:noFill/>
        </p:spPr>
        <p:txBody>
          <a:bodyPr wrap="square" rtlCol="0">
            <a:spAutoFit/>
          </a:bodyPr>
          <a:lstStyle/>
          <a:p>
            <a:r>
              <a:rPr lang="en-IN" sz="2200" b="1" dirty="0"/>
              <a:t>Feasibility Analysis</a:t>
            </a:r>
          </a:p>
        </p:txBody>
      </p:sp>
      <p:sp>
        <p:nvSpPr>
          <p:cNvPr id="7" name="TextBox 6">
            <a:extLst>
              <a:ext uri="{FF2B5EF4-FFF2-40B4-BE49-F238E27FC236}">
                <a16:creationId xmlns:a16="http://schemas.microsoft.com/office/drawing/2014/main" id="{345FE54F-73D0-0083-7E9B-D942A3278112}"/>
              </a:ext>
            </a:extLst>
          </p:cNvPr>
          <p:cNvSpPr txBox="1"/>
          <p:nvPr/>
        </p:nvSpPr>
        <p:spPr>
          <a:xfrm>
            <a:off x="1583266" y="2463800"/>
            <a:ext cx="9347200" cy="3139321"/>
          </a:xfrm>
          <a:prstGeom prst="rect">
            <a:avLst/>
          </a:prstGeom>
          <a:noFill/>
        </p:spPr>
        <p:txBody>
          <a:bodyPr wrap="square" rtlCol="0">
            <a:spAutoFit/>
          </a:bodyPr>
          <a:lstStyle/>
          <a:p>
            <a:pPr marL="285750" lvl="0" indent="-285750">
              <a:buFont typeface="Arial" panose="020B0604020202020204" pitchFamily="34" charset="0"/>
              <a:buChar char="•"/>
            </a:pPr>
            <a:r>
              <a:rPr lang="en-IN" b="1" dirty="0"/>
              <a:t>Technical Feasibility:</a:t>
            </a:r>
            <a:r>
              <a:rPr lang="en-IN" dirty="0"/>
              <a:t> Leverages lightweight pre-trained models (</a:t>
            </a:r>
            <a:r>
              <a:rPr lang="en-IN" dirty="0" err="1"/>
              <a:t>BioBERT</a:t>
            </a:r>
            <a:r>
              <a:rPr lang="en-IN" dirty="0"/>
              <a:t>) and quantized open-weights LLMs (Llama 3 8B) capable of running on free GPU tiers.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Data Feasibility:</a:t>
            </a:r>
            <a:r>
              <a:rPr lang="en-IN" dirty="0"/>
              <a:t> Uses open-access medical QA datasets (MedQuAD, </a:t>
            </a:r>
            <a:r>
              <a:rPr lang="en-IN" dirty="0" err="1"/>
              <a:t>PubMedQA</a:t>
            </a:r>
            <a:r>
              <a:rPr lang="en-IN" dirty="0"/>
              <a:t>) and publicly available clinical note samples (Kaggle / MTAI / MIMIC-III).</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Operational &amp; Cost Feasibility:</a:t>
            </a:r>
            <a:r>
              <a:rPr lang="en-IN" dirty="0"/>
              <a:t> Zero hardware or software costs, ensuring high replicability for academic and research settings.</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Time Feasibility:</a:t>
            </a:r>
            <a:r>
              <a:rPr lang="en-IN" dirty="0"/>
              <a:t> Structured 3-member work division enables complete implementation and testing within a sprinted project schedule.</a:t>
            </a:r>
          </a:p>
        </p:txBody>
      </p:sp>
    </p:spTree>
    <p:extLst>
      <p:ext uri="{BB962C8B-B14F-4D97-AF65-F5344CB8AC3E}">
        <p14:creationId xmlns:p14="http://schemas.microsoft.com/office/powerpoint/2010/main" val="3925606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811B5-6ED4-B369-56ED-36BF8CE6C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929" y="139075"/>
            <a:ext cx="7178671" cy="927725"/>
          </a:xfrm>
          <a:prstGeom prst="rect">
            <a:avLst/>
          </a:prstGeom>
        </p:spPr>
      </p:pic>
      <p:sp>
        <p:nvSpPr>
          <p:cNvPr id="6" name="TextBox 5">
            <a:extLst>
              <a:ext uri="{FF2B5EF4-FFF2-40B4-BE49-F238E27FC236}">
                <a16:creationId xmlns:a16="http://schemas.microsoft.com/office/drawing/2014/main" id="{1F783C67-2925-801D-65F0-1F17B22C6D18}"/>
              </a:ext>
            </a:extLst>
          </p:cNvPr>
          <p:cNvSpPr txBox="1"/>
          <p:nvPr/>
        </p:nvSpPr>
        <p:spPr>
          <a:xfrm>
            <a:off x="5088467" y="1320800"/>
            <a:ext cx="3251200" cy="430887"/>
          </a:xfrm>
          <a:prstGeom prst="rect">
            <a:avLst/>
          </a:prstGeom>
          <a:noFill/>
        </p:spPr>
        <p:txBody>
          <a:bodyPr wrap="square" rtlCol="0">
            <a:spAutoFit/>
          </a:bodyPr>
          <a:lstStyle/>
          <a:p>
            <a:r>
              <a:rPr lang="en-IN" sz="2200" b="1" dirty="0"/>
              <a:t>Project Plan</a:t>
            </a:r>
          </a:p>
        </p:txBody>
      </p:sp>
      <p:sp>
        <p:nvSpPr>
          <p:cNvPr id="7" name="TextBox 6">
            <a:extLst>
              <a:ext uri="{FF2B5EF4-FFF2-40B4-BE49-F238E27FC236}">
                <a16:creationId xmlns:a16="http://schemas.microsoft.com/office/drawing/2014/main" id="{619C7CC0-5934-D610-18D2-81C19AF25FE9}"/>
              </a:ext>
            </a:extLst>
          </p:cNvPr>
          <p:cNvSpPr txBox="1"/>
          <p:nvPr/>
        </p:nvSpPr>
        <p:spPr>
          <a:xfrm>
            <a:off x="1337733" y="2387600"/>
            <a:ext cx="9855200" cy="3416320"/>
          </a:xfrm>
          <a:prstGeom prst="rect">
            <a:avLst/>
          </a:prstGeom>
          <a:noFill/>
        </p:spPr>
        <p:txBody>
          <a:bodyPr wrap="square" rtlCol="0">
            <a:spAutoFit/>
          </a:bodyPr>
          <a:lstStyle/>
          <a:p>
            <a:pPr lvl="0"/>
            <a:r>
              <a:rPr lang="en-IN" b="1" dirty="0"/>
              <a:t>Phase 1: Environment Setup &amp; Data Pipeline (Member 1)</a:t>
            </a:r>
            <a:endParaRPr lang="en-IN" dirty="0"/>
          </a:p>
          <a:p>
            <a:pPr marL="742950" lvl="1" indent="-285750">
              <a:buFont typeface="Arial" panose="020B0604020202020204" pitchFamily="34" charset="0"/>
              <a:buChar char="•"/>
            </a:pPr>
            <a:r>
              <a:rPr lang="en-IN" dirty="0"/>
              <a:t>Set up GitHub repository; process MedQuAD/PubMed datasets; implement </a:t>
            </a:r>
            <a:r>
              <a:rPr lang="en-IN" dirty="0" err="1"/>
              <a:t>SpaCy</a:t>
            </a:r>
            <a:r>
              <a:rPr lang="en-IN" dirty="0"/>
              <a:t> lemmatization, Bag-of-Words, and TF-IDF baselines.</a:t>
            </a:r>
          </a:p>
          <a:p>
            <a:pPr lvl="0"/>
            <a:r>
              <a:rPr lang="en-IN" b="1" dirty="0"/>
              <a:t>Phase 2: Vector Store &amp; </a:t>
            </a:r>
            <a:r>
              <a:rPr lang="en-IN" b="1" dirty="0" err="1"/>
              <a:t>BioBERT</a:t>
            </a:r>
            <a:r>
              <a:rPr lang="en-IN" b="1" dirty="0"/>
              <a:t> NER (Members 1 &amp; 2)</a:t>
            </a:r>
            <a:endParaRPr lang="en-IN" dirty="0"/>
          </a:p>
          <a:p>
            <a:pPr marL="742950" lvl="1" indent="-285750">
              <a:buFont typeface="Arial" panose="020B0604020202020204" pitchFamily="34" charset="0"/>
              <a:buChar char="•"/>
            </a:pPr>
            <a:r>
              <a:rPr lang="en-IN" dirty="0"/>
              <a:t>Index medical QA chunks into </a:t>
            </a:r>
            <a:r>
              <a:rPr lang="en-IN" dirty="0" err="1"/>
              <a:t>ChromaDB</a:t>
            </a:r>
            <a:r>
              <a:rPr lang="en-IN" dirty="0"/>
              <a:t>; deploy pre-trained </a:t>
            </a:r>
            <a:r>
              <a:rPr lang="en-IN" dirty="0" err="1"/>
              <a:t>BioBERT</a:t>
            </a:r>
            <a:r>
              <a:rPr lang="en-IN" dirty="0"/>
              <a:t> pipeline for clinical entity extraction (symptoms, drugs, labs).</a:t>
            </a:r>
          </a:p>
          <a:p>
            <a:pPr lvl="0"/>
            <a:r>
              <a:rPr lang="en-IN" b="1" dirty="0"/>
              <a:t>Phase 3: Llama 3 RAG &amp; Prompt Engineering (Member 3)</a:t>
            </a:r>
            <a:endParaRPr lang="en-IN" dirty="0"/>
          </a:p>
          <a:p>
            <a:pPr marL="742950" lvl="1" indent="-285750">
              <a:buFont typeface="Arial" panose="020B0604020202020204" pitchFamily="34" charset="0"/>
              <a:buChar char="•"/>
            </a:pPr>
            <a:r>
              <a:rPr lang="en-IN" dirty="0"/>
              <a:t>Configure Llama 3 8B API connection; design system prompts integrating extracted entities and retrieved context.</a:t>
            </a:r>
          </a:p>
          <a:p>
            <a:pPr lvl="0"/>
            <a:r>
              <a:rPr lang="en-IN" b="1" dirty="0"/>
              <a:t>Phase 4: System Integration, UI &amp; Testing (All Members)</a:t>
            </a:r>
            <a:endParaRPr lang="en-IN" dirty="0"/>
          </a:p>
          <a:p>
            <a:pPr marL="742950" lvl="1" indent="-285750">
              <a:buFont typeface="Arial" panose="020B0604020202020204" pitchFamily="34" charset="0"/>
              <a:buChar char="•"/>
            </a:pPr>
            <a:r>
              <a:rPr lang="en-IN" dirty="0"/>
              <a:t>Connect modules into the </a:t>
            </a:r>
            <a:r>
              <a:rPr lang="en-IN" dirty="0" err="1"/>
              <a:t>Streamlit</a:t>
            </a:r>
            <a:r>
              <a:rPr lang="en-IN" dirty="0"/>
              <a:t> dashboard; evaluate NER accuracy, RAG retrieval quality, and end-to-end clinical recommendations.</a:t>
            </a:r>
          </a:p>
        </p:txBody>
      </p:sp>
    </p:spTree>
    <p:extLst>
      <p:ext uri="{BB962C8B-B14F-4D97-AF65-F5344CB8AC3E}">
        <p14:creationId xmlns:p14="http://schemas.microsoft.com/office/powerpoint/2010/main" val="16894482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1064</Words>
  <Application>Microsoft Office PowerPoint</Application>
  <PresentationFormat>Widescreen</PresentationFormat>
  <Paragraphs>98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P</dc:creator>
  <cp:lastModifiedBy>Dhanush P</cp:lastModifiedBy>
  <cp:revision>3</cp:revision>
  <dcterms:created xsi:type="dcterms:W3CDTF">2026-08-08T04:55:50Z</dcterms:created>
  <dcterms:modified xsi:type="dcterms:W3CDTF">2026-08-08T06:20:44Z</dcterms:modified>
</cp:coreProperties>
</file>